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wdp" ContentType="image/vnd.ms-photo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22"/>
  </p:handoutMasterIdLst>
  <p:sldIdLst>
    <p:sldId id="274" r:id="rId3"/>
    <p:sldId id="269" r:id="rId4"/>
    <p:sldId id="257" r:id="rId5"/>
    <p:sldId id="286" r:id="rId6"/>
    <p:sldId id="287" r:id="rId7"/>
    <p:sldId id="288" r:id="rId8"/>
    <p:sldId id="289" r:id="rId9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28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A60"/>
    <a:srgbClr val="55E80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0505E3EF-67EA-436B-97B2-0124C06EBD24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ustomXml" Target="../customXml/item3.xml"/><Relationship Id="rId27" Type="http://schemas.openxmlformats.org/officeDocument/2006/relationships/customXml" Target="../customXml/item2.xml"/><Relationship Id="rId26" Type="http://schemas.openxmlformats.org/officeDocument/2006/relationships/customXml" Target="../customXml/item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A7A7B-B71A-428D-833F-0F3507A6DB1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5307-640F-4AE7-B0BE-50C709AD86C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78E8-5F4B-47D5-A617-8CCDF75D6A3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AFA52-7A21-407F-8339-40DF182D746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smtClean="0"/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smtClean="0"/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83A1-31A8-47A2-AB0A-53A7803D5EBF}" type="datetimeFigureOut">
              <a:rPr lang="en-US" smtClean="0"/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10B9-2C7C-4CAF-99E2-617AE20BA33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3E0A-5177-400C-87C9-C93AF466EC4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615-2DB4-4DAA-9DE3-B2B689A846E0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3E0A-5177-400C-87C9-C93AF466EC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615-2DB4-4DAA-9DE3-B2B689A846E0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3E0A-5177-400C-87C9-C93AF466EC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615-2DB4-4DAA-9DE3-B2B689A846E0}" type="slidenum">
              <a:rPr lang="en-US" smtClean="0"/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ea typeface="+mj-ea"/>
                <a:cs typeface="+mj-cs"/>
              </a:rPr>
              <a:t>“</a:t>
            </a:r>
            <a:endParaRPr lang="en-US" sz="122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ea typeface="+mj-ea"/>
                <a:cs typeface="+mj-cs"/>
              </a:rPr>
              <a:t>”</a:t>
            </a:r>
            <a:endParaRPr lang="en-US" sz="122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3E0A-5177-400C-87C9-C93AF466EC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615-2DB4-4DAA-9DE3-B2B689A846E0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3E0A-5177-400C-87C9-C93AF466EC49}" type="datetimeFigureOut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615-2DB4-4DAA-9DE3-B2B689A846E0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3E0A-5177-400C-87C9-C93AF466EC49}" type="datetimeFigureOut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615-2DB4-4DAA-9DE3-B2B689A846E0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Date Placeholder 3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/>
          </a:p>
        </p:txBody>
      </p:sp>
      <p:sp>
        <p:nvSpPr>
          <p:cNvPr id="40" name="Footer Placeholder 3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</a:fld>
            <a:endParaRPr lang="en-US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31520" y="2514600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2648" y="2743200"/>
            <a:ext cx="8467558" cy="34747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 cap="all" spc="100" baseline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664108"/>
            <a:ext cx="8467558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Lis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5028292" y="420624"/>
            <a:ext cx="6684264" cy="601675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2648" y="2743200"/>
            <a:ext cx="3474720" cy="35021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56870" indent="0" algn="ctr">
              <a:buFont typeface="Arial" panose="020B0604020202020204" pitchFamily="34" charset="0"/>
              <a:buNone/>
              <a:defRPr sz="1800"/>
            </a:lvl2pPr>
            <a:lvl3pPr marL="722630" indent="0" algn="ctr">
              <a:buNone/>
              <a:defRPr sz="1800"/>
            </a:lvl3pPr>
            <a:lvl4pPr marL="1078865" indent="0" algn="ctr">
              <a:buFont typeface="Arial" panose="020B0604020202020204" pitchFamily="34" charset="0"/>
              <a:buNone/>
              <a:defRPr sz="1800"/>
            </a:lvl4pPr>
            <a:lvl5pPr marL="1444625" indent="0" algn="ct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429768"/>
            <a:ext cx="3474720" cy="1847088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250372" y="239487"/>
            <a:ext cx="11691255" cy="4461693"/>
          </a:xfrm>
          <a:blipFill dpi="0" rotWithShape="1">
            <a:blip r:embed="rId2">
              <a:alphaModFix amt="60000"/>
            </a:blip>
            <a:srcRect/>
            <a:stretch>
              <a:fillRect l="1" t="1" r="-8000" b="-2200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2648" y="5972628"/>
            <a:ext cx="10972800" cy="54864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648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6.png"/><Relationship Id="rId23" Type="http://schemas.openxmlformats.org/officeDocument/2006/relationships/image" Target="../media/image5.png"/><Relationship Id="rId22" Type="http://schemas.openxmlformats.org/officeDocument/2006/relationships/image" Target="../media/image4.png"/><Relationship Id="rId21" Type="http://schemas.openxmlformats.org/officeDocument/2006/relationships/image" Target="../media/image3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>
            <a:fillRect/>
          </a:stretch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8.jpe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8.jpe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9.xml"/><Relationship Id="rId5" Type="http://schemas.microsoft.com/office/2007/relationships/hdphoto" Target="../media/image10.wdp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microsoft.com/office/2007/relationships/hdphoto" Target="../media/image10.wdp"/><Relationship Id="rId4" Type="http://schemas.openxmlformats.org/officeDocument/2006/relationships/image" Target="../media/image9.png"/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8.jpe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8.jpe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8.jpe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8.jpe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8.jpe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8.jpe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8.jpe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8.jpe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8.jpeg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8.jpeg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577" y="533291"/>
            <a:ext cx="6283479" cy="2183627"/>
          </a:xfrm>
        </p:spPr>
        <p:txBody>
          <a:bodyPr>
            <a:noAutofit/>
          </a:bodyPr>
          <a:lstStyle/>
          <a:p>
            <a:r>
              <a:rPr lang="en-US" sz="4800" b="1">
                <a:solidFill>
                  <a:schemeClr val="tx2">
                    <a:lumMod val="49000"/>
                    <a:lumOff val="51000"/>
                  </a:schemeClr>
                </a:solidFill>
                <a:ea typeface="+mj-lt"/>
                <a:cs typeface="+mj-lt"/>
              </a:rPr>
              <a:t>Cryptocurrency Transaction Analysis</a:t>
            </a:r>
            <a:endParaRPr lang="en-US" sz="4800">
              <a:solidFill>
                <a:schemeClr val="tx2">
                  <a:lumMod val="49000"/>
                  <a:lumOff val="51000"/>
                </a:schemeClr>
              </a:solidFill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2020" y="3079974"/>
            <a:ext cx="5127752" cy="2732997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solidFill>
                  <a:srgbClr val="92D050"/>
                </a:solidFill>
                <a:latin typeface="Batang"/>
                <a:ea typeface="+mn-lt"/>
                <a:cs typeface="+mn-lt"/>
              </a:rPr>
              <a:t>Summer Training Project, August 2025</a:t>
            </a:r>
            <a:endParaRPr lang="en-US">
              <a:solidFill>
                <a:srgbClr val="92D050"/>
              </a:solidFill>
              <a:latin typeface="Batang"/>
              <a:ea typeface="+mn-lt"/>
              <a:cs typeface="+mn-lt"/>
            </a:endParaRPr>
          </a:p>
          <a:p>
            <a:r>
              <a:rPr lang="en-US" b="1">
                <a:solidFill>
                  <a:srgbClr val="92D050"/>
                </a:solidFill>
                <a:latin typeface="Batang"/>
                <a:ea typeface="+mn-lt"/>
                <a:cs typeface="+mn-lt"/>
              </a:rPr>
              <a:t>Team</a:t>
            </a:r>
            <a:r>
              <a:rPr lang="en-US">
                <a:solidFill>
                  <a:srgbClr val="92D050"/>
                </a:solidFill>
                <a:latin typeface="Batang"/>
                <a:ea typeface="+mn-lt"/>
                <a:cs typeface="+mn-lt"/>
              </a:rPr>
              <a:t>                   </a:t>
            </a:r>
            <a:endParaRPr lang="en-US">
              <a:solidFill>
                <a:srgbClr val="92D050"/>
              </a:solidFill>
              <a:latin typeface="Batang"/>
              <a:ea typeface="+mn-lt"/>
              <a:cs typeface="+mn-lt"/>
            </a:endParaRPr>
          </a:p>
          <a:p>
            <a:r>
              <a:rPr lang="en-US" sz="1200">
                <a:solidFill>
                  <a:srgbClr val="92D050"/>
                </a:solidFill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92D050"/>
                </a:solidFill>
                <a:latin typeface="Batang"/>
                <a:ea typeface="+mn-lt"/>
                <a:cs typeface="+mn-lt"/>
              </a:rPr>
              <a:t>Aru Shubham Singh (2400100100114)</a:t>
            </a:r>
            <a:endParaRPr lang="en-US">
              <a:solidFill>
                <a:srgbClr val="92D050"/>
              </a:solidFill>
              <a:latin typeface="Avenir Next LT Pro Light"/>
              <a:ea typeface="+mn-lt"/>
              <a:cs typeface="+mn-lt"/>
            </a:endParaRPr>
          </a:p>
          <a:p>
            <a:r>
              <a:rPr lang="en-US" sz="1600">
                <a:solidFill>
                  <a:srgbClr val="92D050"/>
                </a:solidFill>
                <a:latin typeface="Batang"/>
                <a:ea typeface="+mn-lt"/>
                <a:cs typeface="+mn-lt"/>
              </a:rPr>
              <a:t>         Ashish Giri (2400100100122) </a:t>
            </a:r>
            <a:endParaRPr lang="en-US">
              <a:solidFill>
                <a:srgbClr val="92D050"/>
              </a:solidFill>
              <a:latin typeface="Avenir Next LT Pro Light"/>
              <a:ea typeface="+mn-lt"/>
              <a:cs typeface="+mn-lt"/>
            </a:endParaRPr>
          </a:p>
          <a:p>
            <a:r>
              <a:rPr lang="en-US" sz="1600">
                <a:solidFill>
                  <a:srgbClr val="92D050"/>
                </a:solidFill>
                <a:latin typeface="Batang"/>
                <a:ea typeface="+mn-lt"/>
                <a:cs typeface="+mn-lt"/>
              </a:rPr>
              <a:t>         Avjeet Kumar (2400100100137)</a:t>
            </a:r>
            <a:endParaRPr lang="en-US">
              <a:solidFill>
                <a:srgbClr val="92D050"/>
              </a:solidFill>
            </a:endParaRPr>
          </a:p>
          <a:p>
            <a:br>
              <a:rPr lang="en-US" sz="1200">
                <a:latin typeface="Batang"/>
                <a:ea typeface="+mn-lt"/>
                <a:cs typeface="+mn-lt"/>
              </a:rPr>
            </a:br>
            <a:r>
              <a:rPr lang="en-US">
                <a:solidFill>
                  <a:srgbClr val="92D050"/>
                </a:solidFill>
                <a:latin typeface="Bookman Old Style" panose="02050604050505020204"/>
              </a:rPr>
              <a:t>Supervisor</a:t>
            </a:r>
            <a:r>
              <a:rPr lang="en-US" sz="1200">
                <a:solidFill>
                  <a:srgbClr val="92D050"/>
                </a:solidFill>
                <a:ea typeface="+mn-lt"/>
                <a:cs typeface="+mn-lt"/>
              </a:rPr>
              <a:t>:</a:t>
            </a:r>
            <a:r>
              <a:rPr lang="en-US">
                <a:solidFill>
                  <a:srgbClr val="92D050"/>
                </a:solidFill>
              </a:rPr>
              <a:t> Dr. Snehlata,</a:t>
            </a:r>
            <a:r>
              <a:rPr lang="en-US" sz="1200">
                <a:solidFill>
                  <a:srgbClr val="92D050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92D050"/>
                </a:solidFill>
                <a:ea typeface="+mn-lt"/>
                <a:cs typeface="+mn-lt"/>
              </a:rPr>
              <a:t>Dept. of 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Computer Science, UCER</a:t>
            </a:r>
            <a:endParaRPr lang="en-US" sz="1400">
              <a:solidFill>
                <a:srgbClr val="00B050"/>
              </a:solidFill>
            </a:endParaRPr>
          </a:p>
        </p:txBody>
      </p:sp>
      <p:pic>
        <p:nvPicPr>
          <p:cNvPr id="4" name="Picture 3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0" y="6829"/>
            <a:ext cx="1294323" cy="123717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 descr="A logo of a university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1516" y="6829"/>
            <a:ext cx="1280484" cy="136674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053" y="324971"/>
            <a:ext cx="4157383" cy="62080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267590" y="546101"/>
            <a:ext cx="3269360" cy="177165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ea typeface="Batang"/>
              </a:rPr>
              <a:t>Abstract</a:t>
            </a:r>
            <a:endParaRPr lang="en-US" b="1">
              <a:solidFill>
                <a:srgbClr val="00B0F0"/>
              </a:solidFill>
              <a:ea typeface="Batang"/>
            </a:endParaRPr>
          </a:p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3825" y="1591945"/>
            <a:ext cx="3188970" cy="5122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228600" indent="-228600">
              <a:buChar char="•"/>
            </a:pPr>
            <a:r>
              <a:rPr lang="en-US">
                <a:solidFill>
                  <a:srgbClr val="92D050"/>
                </a:solidFill>
                <a:latin typeface="+mj-lt"/>
                <a:cs typeface="+mj-lt"/>
              </a:rPr>
              <a:t>E</a:t>
            </a:r>
            <a:r>
              <a:rPr lang="en-US" sz="1600">
                <a:solidFill>
                  <a:srgbClr val="92D050"/>
                </a:solidFill>
                <a:latin typeface="+mj-lt"/>
                <a:cs typeface="+mj-lt"/>
              </a:rPr>
              <a:t>xplores how blockchain transaction data is analyzed to find patterns, detect anomalies, and ensure security.</a:t>
            </a:r>
            <a:endParaRPr lang="en-US" sz="1600">
              <a:solidFill>
                <a:srgbClr val="92D050"/>
              </a:solidFill>
              <a:latin typeface="+mj-lt"/>
              <a:cs typeface="+mj-lt"/>
            </a:endParaRPr>
          </a:p>
          <a:p>
            <a:pPr marL="228600" indent="-228600">
              <a:buChar char="•"/>
            </a:pPr>
            <a:r>
              <a:rPr lang="en-US" sz="1600">
                <a:solidFill>
                  <a:srgbClr val="92D050"/>
                </a:solidFill>
                <a:latin typeface="+mj-lt"/>
                <a:cs typeface="+mj-lt"/>
              </a:rPr>
              <a:t>Uses advanced analytics, machine learning, and graph theory to trace transactions and identify illicit activities.</a:t>
            </a:r>
            <a:endParaRPr lang="en-US" sz="1600">
              <a:solidFill>
                <a:srgbClr val="92D050"/>
              </a:solidFill>
              <a:latin typeface="+mj-lt"/>
              <a:cs typeface="+mj-lt"/>
            </a:endParaRPr>
          </a:p>
          <a:p>
            <a:pPr marL="228600" indent="-228600">
              <a:buChar char="•"/>
            </a:pPr>
            <a:r>
              <a:rPr lang="en-US" sz="1600">
                <a:solidFill>
                  <a:srgbClr val="92D050"/>
                </a:solidFill>
                <a:latin typeface="+mj-lt"/>
                <a:cs typeface="+mj-lt"/>
              </a:rPr>
              <a:t>Focuses on how decentralized systems present unique challenges for analysis.</a:t>
            </a:r>
            <a:endParaRPr lang="en-US" sz="1600">
              <a:solidFill>
                <a:srgbClr val="92D050"/>
              </a:solidFill>
              <a:latin typeface="+mj-lt"/>
              <a:cs typeface="+mj-lt"/>
            </a:endParaRPr>
          </a:p>
          <a:p>
            <a:pPr marL="228600" indent="-228600">
              <a:buChar char="•"/>
            </a:pPr>
            <a:r>
              <a:rPr lang="en-US" sz="1600">
                <a:solidFill>
                  <a:srgbClr val="92D050"/>
                </a:solidFill>
                <a:latin typeface="+mj-lt"/>
                <a:cs typeface="+mj-lt"/>
              </a:rPr>
              <a:t>Highlights the importance of transparency, scalability, privacy, and regulatory compliance in cryptocurrency.</a:t>
            </a:r>
            <a:endParaRPr lang="en-US" sz="1600">
              <a:solidFill>
                <a:srgbClr val="92D050"/>
              </a:solidFill>
              <a:latin typeface="+mj-lt"/>
              <a:cs typeface="+mj-lt"/>
            </a:endParaRPr>
          </a:p>
          <a:p>
            <a:pPr marL="228600" indent="-228600">
              <a:buChar char="•"/>
            </a:pPr>
            <a:endParaRPr lang="en-US" sz="1600">
              <a:latin typeface="+mj-lt"/>
              <a:cs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63528" y="1320800"/>
            <a:ext cx="6858000" cy="4615543"/>
          </a:xfrm>
          <a:prstGeom prst="rect">
            <a:avLst/>
          </a:prstGeom>
        </p:spPr>
      </p:pic>
      <p:pic>
        <p:nvPicPr>
          <p:cNvPr id="4" name="Picture 3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0" y="6829"/>
            <a:ext cx="1093039" cy="103588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 descr="A logo of a universit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512" y="-14827"/>
            <a:ext cx="1352372" cy="12373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7"/>
          <p:cNvPicPr>
            <a:picLocks noGrp="1" noChangeAspect="1"/>
          </p:cNvPicPr>
          <p:nvPr>
            <p:ph type="pic" sz="quarter" idx="14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4" r="18774"/>
          <a:stretch>
            <a:fillRect/>
          </a:stretch>
        </p:blipFill>
        <p:spPr>
          <a:xfrm>
            <a:off x="5521351" y="835242"/>
            <a:ext cx="5844960" cy="5199535"/>
          </a:xfrm>
        </p:spPr>
      </p:pic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612648" y="2081842"/>
            <a:ext cx="3474720" cy="35021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Digital/assets (not physical) secured by cryptography.</a:t>
            </a:r>
            <a:endParaRPr lang="en-US" sz="17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Decentralized: No single authority controls supply or transactions.</a:t>
            </a:r>
            <a:endParaRPr lang="en-US" sz="17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Runs on blockchain technology—a distributed, public ledger.</a:t>
            </a:r>
            <a:endParaRPr lang="en-US" sz="17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Resistant to counterfeiting and double-spending due to its design.</a:t>
            </a:r>
            <a:endParaRPr lang="en-US" sz="170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140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53215" y="-1552"/>
            <a:ext cx="4236718" cy="210588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ea typeface="Batang"/>
              </a:rPr>
              <a:t>What is Cryptocurrency</a:t>
            </a:r>
            <a:endParaRPr lang="en-US" b="1">
              <a:solidFill>
                <a:srgbClr val="00B0F0"/>
              </a:solidFill>
              <a:ea typeface="Batang"/>
            </a:endParaRPr>
          </a:p>
          <a:p>
            <a:endParaRPr lang="en-US" b="1"/>
          </a:p>
        </p:txBody>
      </p:sp>
      <p:pic>
        <p:nvPicPr>
          <p:cNvPr id="2" name="Picture 1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 t="-159" r="3734" b="231"/>
          <a:stretch>
            <a:fillRect/>
          </a:stretch>
        </p:blipFill>
        <p:spPr>
          <a:xfrm>
            <a:off x="4728989" y="1051656"/>
            <a:ext cx="6644570" cy="4847843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66778" y="2099094"/>
            <a:ext cx="3653816" cy="41462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Bitcoin (BTC):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The first and highest valued crypto, a reference standard.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Ethereum (ETH):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Second largest, known for smart contracts (programmable money).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Binance Coin (BNB):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Utility token for Binance exchange, 3rd by market cap.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Ripple (XRP):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Used for fast, low-fee cross-border payments.</a:t>
            </a:r>
            <a:endParaRPr lang="en-US" sz="1400">
              <a:solidFill>
                <a:srgbClr val="00B050"/>
              </a:solidFill>
              <a:ea typeface="+mn-lt"/>
              <a:cs typeface="+mn-lt"/>
            </a:endParaRPr>
          </a:p>
          <a:p>
            <a:endParaRPr lang="en-US" sz="1400">
              <a:solidFill>
                <a:srgbClr val="00B050"/>
              </a:solidFill>
            </a:endParaRPr>
          </a:p>
          <a:p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Many “altcoins” (other cryptos) exist with unique features.</a:t>
            </a:r>
            <a:endParaRPr lang="en-US" sz="1400">
              <a:solidFill>
                <a:srgbClr val="00B050"/>
              </a:solidFill>
            </a:endParaRPr>
          </a:p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82920" y="1064375"/>
            <a:ext cx="4078569" cy="2350295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rgbClr val="00B0F0"/>
                </a:solidFill>
                <a:ea typeface="+mj-lt"/>
                <a:cs typeface="+mj-lt"/>
              </a:rPr>
              <a:t>Top Cryptocurrencies</a:t>
            </a:r>
            <a:endParaRPr lang="en-US" sz="2800">
              <a:solidFill>
                <a:srgbClr val="00B0F0"/>
              </a:solidFill>
            </a:endParaRPr>
          </a:p>
          <a:p>
            <a:br>
              <a:rPr lang="en-US"/>
            </a:br>
            <a:endParaRPr lang="en-US">
              <a:ea typeface="Calibri Light" panose="020F0302020204030204"/>
              <a:cs typeface="Calibri Light" panose="020F0302020204030204"/>
            </a:endParaRPr>
          </a:p>
          <a:p>
            <a:endParaRPr lang="en-US"/>
          </a:p>
        </p:txBody>
      </p:sp>
      <p:pic>
        <p:nvPicPr>
          <p:cNvPr id="6" name="Picture 5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/>
          <p:cNvPicPr>
            <a:picLocks noGrp="1" noChangeAspect="1"/>
          </p:cNvPicPr>
          <p:nvPr>
            <p:ph type="pic" sz="quarter" idx="14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0" t="1597" r="5897" b="-1597"/>
          <a:stretch>
            <a:fillRect/>
          </a:stretch>
        </p:blipFill>
        <p:spPr>
          <a:xfrm>
            <a:off x="4198634" y="1432387"/>
            <a:ext cx="7812000" cy="4323811"/>
          </a:xfr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12648" y="2857946"/>
            <a:ext cx="3474720" cy="33874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Blockchain: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Public ledger records all transactions.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Mining: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New coins created by solving complex math (Proof of Work) or by holding tokens (Proof of Stake).</a:t>
            </a:r>
            <a:endParaRPr lang="en-US" sz="1400">
              <a:solidFill>
                <a:srgbClr val="00B050"/>
              </a:solidFill>
            </a:endParaRPr>
          </a:p>
          <a:p>
            <a:pPr algn="l"/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Wallets: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Secure software/hardware stores, sends, or receives coins.</a:t>
            </a:r>
            <a:endParaRPr lang="en-US" sz="1400">
              <a:solidFill>
                <a:srgbClr val="00B050"/>
              </a:solidFill>
            </a:endParaRPr>
          </a:p>
          <a:p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Transactions are broadcast and confirmed by network participants, not banks.</a:t>
            </a:r>
            <a:endParaRPr lang="en-US" sz="1400">
              <a:solidFill>
                <a:srgbClr val="00B050"/>
              </a:solidFill>
            </a:endParaRPr>
          </a:p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799" y="415391"/>
            <a:ext cx="4538644" cy="2864838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ea typeface="Batang"/>
              </a:rPr>
              <a:t>How Does Cryptocurrency Work?</a:t>
            </a:r>
            <a:endParaRPr lang="en-US" b="1">
              <a:solidFill>
                <a:srgbClr val="00B0F0"/>
              </a:solidFill>
              <a:ea typeface="Batang"/>
            </a:endParaRPr>
          </a:p>
          <a:p>
            <a:endParaRPr lang="en-US"/>
          </a:p>
        </p:txBody>
      </p:sp>
      <p:pic>
        <p:nvPicPr>
          <p:cNvPr id="5" name="Picture 4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/>
          <p:cNvPicPr>
            <a:picLocks noGrp="1" noChangeAspect="1"/>
          </p:cNvPicPr>
          <p:nvPr>
            <p:ph type="pic" sz="quarter" idx="14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529" b="561"/>
          <a:stretch>
            <a:fillRect/>
          </a:stretch>
        </p:blipFill>
        <p:spPr>
          <a:xfrm>
            <a:off x="5028565" y="-775970"/>
            <a:ext cx="6684010" cy="753618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12648" y="2598057"/>
            <a:ext cx="3474720" cy="36472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 sz="1600">
                <a:solidFill>
                  <a:srgbClr val="00B050"/>
                </a:solidFill>
                <a:ea typeface="+mn-lt"/>
                <a:cs typeface="+mn-lt"/>
              </a:rPr>
              <a:t>Choose a reputed cryptocurrency exchange (Binance, Kucoin, CoinDCX, etc.).</a:t>
            </a:r>
            <a:endParaRPr lang="en-US" sz="16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600">
                <a:solidFill>
                  <a:srgbClr val="00B050"/>
                </a:solidFill>
                <a:ea typeface="+mn-lt"/>
                <a:cs typeface="+mn-lt"/>
              </a:rPr>
              <a:t>Register using email/phone; complete identity verification (KYC).</a:t>
            </a:r>
            <a:endParaRPr lang="en-US" sz="16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600">
                <a:solidFill>
                  <a:srgbClr val="00B050"/>
                </a:solidFill>
                <a:ea typeface="+mn-lt"/>
                <a:cs typeface="+mn-lt"/>
              </a:rPr>
              <a:t>Deposit money (often by buying USDT via P2P).</a:t>
            </a:r>
            <a:endParaRPr lang="en-US" sz="16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600">
                <a:solidFill>
                  <a:srgbClr val="00B050"/>
                </a:solidFill>
                <a:ea typeface="+mn-lt"/>
                <a:cs typeface="+mn-lt"/>
              </a:rPr>
              <a:t>Select a coin, set amount, buy at market price, and track holdings in wallet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.</a:t>
            </a:r>
            <a:endParaRPr lang="en-US" sz="1400">
              <a:solidFill>
                <a:srgbClr val="00B050"/>
              </a:solidFill>
            </a:endParaRPr>
          </a:p>
          <a:p>
            <a:endParaRPr lang="en-US" sz="140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6951" y="612648"/>
            <a:ext cx="4596153" cy="237729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B0F0"/>
                </a:solidFill>
                <a:ea typeface="Batang"/>
              </a:rPr>
              <a:t>How to Purchase Cryptocurrency</a:t>
            </a:r>
            <a:endParaRPr lang="en-US" b="1">
              <a:solidFill>
                <a:srgbClr val="00B0F0"/>
              </a:solidFill>
              <a:ea typeface="Batang"/>
            </a:endParaRPr>
          </a:p>
          <a:p>
            <a:endParaRPr lang="en-US"/>
          </a:p>
        </p:txBody>
      </p:sp>
      <p:pic>
        <p:nvPicPr>
          <p:cNvPr id="6" name="Picture 5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screenshot of a phone&#10;&#10;AI-generated content may be incorrect.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 l="120" t="7" r="332" b="-1124"/>
          <a:stretch>
            <a:fillRect/>
          </a:stretch>
        </p:blipFill>
        <p:spPr>
          <a:xfrm>
            <a:off x="4837792" y="1182624"/>
            <a:ext cx="7207485" cy="5064249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51303" y="2162628"/>
            <a:ext cx="4410517" cy="449565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>
              <a:buFont typeface="Arial" panose="020B0604020202020204"/>
              <a:buChar char="•"/>
            </a:pPr>
            <a:r>
              <a:rPr lang="en-US" b="1">
                <a:solidFill>
                  <a:srgbClr val="00B050"/>
                </a:solidFill>
                <a:ea typeface="+mn-lt"/>
                <a:cs typeface="+mn-lt"/>
              </a:rPr>
              <a:t>Tran</a:t>
            </a:r>
            <a:r>
              <a:rPr lang="en-US" sz="1700" b="1">
                <a:solidFill>
                  <a:srgbClr val="00B050"/>
                </a:solidFill>
                <a:ea typeface="+mn-lt"/>
                <a:cs typeface="+mn-lt"/>
              </a:rPr>
              <a:t>saction (Tx):</a:t>
            </a: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 Transfer of crypto from one wallet to another.</a:t>
            </a:r>
            <a:endParaRPr lang="en-US" sz="1700">
              <a:solidFill>
                <a:srgbClr val="00B050"/>
              </a:solidFill>
            </a:endParaRPr>
          </a:p>
          <a:p>
            <a:pPr algn="l">
              <a:buFont typeface="Arial" panose="020B0604020202020204"/>
              <a:buChar char="•"/>
            </a:pPr>
            <a:r>
              <a:rPr lang="en-US" sz="1700" b="1">
                <a:solidFill>
                  <a:srgbClr val="00B050"/>
                </a:solidFill>
                <a:ea typeface="+mn-lt"/>
                <a:cs typeface="+mn-lt"/>
              </a:rPr>
              <a:t>TxID (Hash):</a:t>
            </a: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 Unique code tracking each transaction.</a:t>
            </a:r>
            <a:endParaRPr lang="en-US" sz="1700">
              <a:solidFill>
                <a:srgbClr val="00B050"/>
              </a:solidFill>
            </a:endParaRPr>
          </a:p>
          <a:p>
            <a:pPr algn="l">
              <a:buFont typeface="Arial" panose="020B0604020202020204"/>
              <a:buChar char="•"/>
            </a:pPr>
            <a:r>
              <a:rPr lang="en-US" sz="1700" b="1">
                <a:solidFill>
                  <a:srgbClr val="00B050"/>
                </a:solidFill>
                <a:ea typeface="+mn-lt"/>
                <a:cs typeface="+mn-lt"/>
              </a:rPr>
              <a:t>Input/Output:</a:t>
            </a: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 Source &amp; target addresses for funds.</a:t>
            </a:r>
            <a:endParaRPr lang="en-US" sz="1700">
              <a:solidFill>
                <a:srgbClr val="00B050"/>
              </a:solidFill>
            </a:endParaRPr>
          </a:p>
          <a:p>
            <a:pPr algn="l">
              <a:buFont typeface="Arial" panose="020B0604020202020204"/>
              <a:buChar char="•"/>
            </a:pPr>
            <a:r>
              <a:rPr lang="en-US" sz="1700" b="1">
                <a:solidFill>
                  <a:srgbClr val="00B050"/>
                </a:solidFill>
                <a:ea typeface="+mn-lt"/>
                <a:cs typeface="+mn-lt"/>
              </a:rPr>
              <a:t>Fees:</a:t>
            </a: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 Paid to miners/validators; speeds up confirmation.</a:t>
            </a:r>
            <a:endParaRPr lang="en-US" sz="1700">
              <a:solidFill>
                <a:srgbClr val="00B050"/>
              </a:solidFill>
            </a:endParaRPr>
          </a:p>
          <a:p>
            <a:pPr algn="l">
              <a:buFont typeface="Arial" panose="020B0604020202020204"/>
              <a:buChar char="•"/>
            </a:pPr>
            <a:r>
              <a:rPr lang="en-US" sz="1700" b="1">
                <a:solidFill>
                  <a:srgbClr val="00B050"/>
                </a:solidFill>
                <a:ea typeface="+mn-lt"/>
                <a:cs typeface="+mn-lt"/>
              </a:rPr>
              <a:t>Confirmation:</a:t>
            </a: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 Number of times a transaction is verified and added to blockchain.</a:t>
            </a:r>
            <a:endParaRPr lang="en-US" sz="1700">
              <a:solidFill>
                <a:srgbClr val="00B050"/>
              </a:solidFill>
            </a:endParaRPr>
          </a:p>
          <a:p>
            <a:pPr algn="l">
              <a:buFont typeface="Arial" panose="020B0604020202020204"/>
              <a:buChar char="•"/>
            </a:pPr>
            <a:r>
              <a:rPr lang="en-US" sz="1700" b="1">
                <a:solidFill>
                  <a:srgbClr val="00B050"/>
                </a:solidFill>
                <a:ea typeface="+mn-lt"/>
                <a:cs typeface="+mn-lt"/>
              </a:rPr>
              <a:t>UTXO:</a:t>
            </a: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 Unspent outputs ready to be used in future transactions.</a:t>
            </a:r>
            <a:endParaRPr lang="en-US" sz="1700">
              <a:solidFill>
                <a:srgbClr val="00B050"/>
              </a:solidFill>
            </a:endParaRPr>
          </a:p>
          <a:p>
            <a:pPr algn="l">
              <a:buFont typeface="Arial" panose="020B0604020202020204"/>
              <a:buChar char="•"/>
            </a:pPr>
            <a:r>
              <a:rPr lang="en-US" sz="1700" b="1">
                <a:solidFill>
                  <a:srgbClr val="00B050"/>
                </a:solidFill>
                <a:ea typeface="+mn-lt"/>
                <a:cs typeface="+mn-lt"/>
              </a:rPr>
              <a:t>Signature, Nonce, Memo:</a:t>
            </a:r>
            <a:r>
              <a:rPr lang="en-US" sz="1700">
                <a:solidFill>
                  <a:srgbClr val="00B050"/>
                </a:solidFill>
                <a:ea typeface="+mn-lt"/>
                <a:cs typeface="+mn-lt"/>
              </a:rPr>
              <a:t> Security &amp; tracking details within the transaction.</a:t>
            </a:r>
            <a:endParaRPr lang="en-US" sz="17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endParaRPr lang="en-US"/>
          </a:p>
          <a:p>
            <a:pPr marL="285750" indent="-285750">
              <a:buFont typeface="Arial" panose="020B0604020202020204"/>
              <a:buChar char="•"/>
            </a:pP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9798" y="790721"/>
            <a:ext cx="3776644" cy="184708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B0F0"/>
                </a:solidFill>
                <a:ea typeface="Batang"/>
              </a:rPr>
              <a:t>Key Cryptocurrency Transaction Terms</a:t>
            </a:r>
            <a:endParaRPr lang="en-US" b="1">
              <a:solidFill>
                <a:srgbClr val="00B0F0"/>
              </a:solidFill>
              <a:ea typeface="Batang"/>
            </a:endParaRPr>
          </a:p>
          <a:p>
            <a:endParaRPr lang="en-US"/>
          </a:p>
        </p:txBody>
      </p:sp>
      <p:pic>
        <p:nvPicPr>
          <p:cNvPr id="6" name="Picture 5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of a university&#10;&#10;AI-generated content may be incorrect.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Screens screenshot of a phone&#10;&#10;AI-generated content may be incorrect.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 l="16323" r="16323"/>
          <a:stretch>
            <a:fillRect/>
          </a:stretch>
        </p:blipFill>
        <p:spPr>
          <a:xfrm>
            <a:off x="4410066" y="463756"/>
            <a:ext cx="7173094" cy="5916111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-5578" y="2081842"/>
            <a:ext cx="4423625" cy="46667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Initiation:</a:t>
            </a:r>
            <a:r>
              <a:rPr lang="en-US" sz="1200">
                <a:solidFill>
                  <a:srgbClr val="00B050"/>
                </a:solidFill>
                <a:ea typeface="+mn-lt"/>
                <a:cs typeface="+mn-lt"/>
              </a:rPr>
              <a:t> Sender enters amount, address, sets (optional) fee.</a:t>
            </a:r>
            <a:endParaRPr lang="en-US" sz="12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Signing:</a:t>
            </a:r>
            <a:r>
              <a:rPr lang="en-US" sz="1200">
                <a:solidFill>
                  <a:srgbClr val="00B050"/>
                </a:solidFill>
                <a:ea typeface="+mn-lt"/>
                <a:cs typeface="+mn-lt"/>
              </a:rPr>
              <a:t> Transaction is cryptographically signed.</a:t>
            </a:r>
            <a:endParaRPr lang="en-US" sz="12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Broadcast:</a:t>
            </a:r>
            <a:r>
              <a:rPr lang="en-US" sz="1200">
                <a:solidFill>
                  <a:srgbClr val="00B050"/>
                </a:solidFill>
                <a:ea typeface="+mn-lt"/>
                <a:cs typeface="+mn-lt"/>
              </a:rPr>
              <a:t> Sent to network; seen by all nodes.</a:t>
            </a:r>
            <a:endParaRPr lang="en-US" sz="12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Verification:</a:t>
            </a:r>
            <a:r>
              <a:rPr lang="en-US" sz="1200">
                <a:solidFill>
                  <a:srgbClr val="00B050"/>
                </a:solidFill>
                <a:ea typeface="+mn-lt"/>
                <a:cs typeface="+mn-lt"/>
              </a:rPr>
              <a:t> Nodes check validity, balances, signature.</a:t>
            </a:r>
            <a:endParaRPr lang="en-US" sz="12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Mempool:</a:t>
            </a:r>
            <a:r>
              <a:rPr lang="en-US" sz="1200">
                <a:solidFill>
                  <a:srgbClr val="00B050"/>
                </a:solidFill>
                <a:ea typeface="+mn-lt"/>
                <a:cs typeface="+mn-lt"/>
              </a:rPr>
              <a:t> Awaiting confirmation, miners select for next block.</a:t>
            </a:r>
            <a:endParaRPr lang="en-US" sz="12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Block Inclusion:</a:t>
            </a:r>
            <a:r>
              <a:rPr lang="en-US" sz="1200">
                <a:solidFill>
                  <a:srgbClr val="00B050"/>
                </a:solidFill>
                <a:ea typeface="+mn-lt"/>
                <a:cs typeface="+mn-lt"/>
              </a:rPr>
              <a:t> Miners add to a block, seek consensus.</a:t>
            </a:r>
            <a:endParaRPr lang="en-US" sz="12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Confirmed:</a:t>
            </a:r>
            <a:r>
              <a:rPr lang="en-US" sz="1200">
                <a:solidFill>
                  <a:srgbClr val="00B050"/>
                </a:solidFill>
                <a:ea typeface="+mn-lt"/>
                <a:cs typeface="+mn-lt"/>
              </a:rPr>
              <a:t> Added to blockchain, visible to all, irreversible.</a:t>
            </a:r>
            <a:endParaRPr lang="en-US" sz="12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Recipient:</a:t>
            </a:r>
            <a:r>
              <a:rPr lang="en-US" sz="1200">
                <a:solidFill>
                  <a:srgbClr val="00B050"/>
                </a:solidFill>
                <a:ea typeface="+mn-lt"/>
                <a:cs typeface="+mn-lt"/>
              </a:rPr>
              <a:t> Gets credited in their wallet</a:t>
            </a:r>
            <a:r>
              <a:rPr lang="en-US" sz="1200">
                <a:ea typeface="+mn-lt"/>
                <a:cs typeface="+mn-lt"/>
              </a:rPr>
              <a:t>.</a:t>
            </a:r>
            <a:endParaRPr lang="en-US" sz="1200"/>
          </a:p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3894" y="789202"/>
            <a:ext cx="3834153" cy="1861465"/>
          </a:xfrm>
        </p:spPr>
        <p:txBody>
          <a:bodyPr/>
          <a:lstStyle/>
          <a:p>
            <a:r>
              <a:rPr lang="en-US" b="1">
                <a:ea typeface="Batang"/>
              </a:rPr>
              <a:t> </a:t>
            </a:r>
            <a:r>
              <a:rPr lang="en-US" b="1">
                <a:solidFill>
                  <a:srgbClr val="00B0F0"/>
                </a:solidFill>
                <a:ea typeface="Batang"/>
              </a:rPr>
              <a:t>How Transactions Work ?</a:t>
            </a:r>
            <a:endParaRPr lang="en-US" b="1">
              <a:solidFill>
                <a:srgbClr val="00B0F0"/>
              </a:solidFill>
              <a:ea typeface="Batang"/>
            </a:endParaRPr>
          </a:p>
          <a:p>
            <a:endParaRPr lang="en-US"/>
          </a:p>
        </p:txBody>
      </p:sp>
      <p:pic>
        <p:nvPicPr>
          <p:cNvPr id="6" name="Picture 5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of a university&#10;&#10;AI-generated content may be incorrect.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 l="7851" t="-69" r="8752" b="186"/>
          <a:stretch>
            <a:fillRect/>
          </a:stretch>
        </p:blipFill>
        <p:spPr>
          <a:xfrm>
            <a:off x="4893821" y="790418"/>
            <a:ext cx="6823835" cy="5707142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-5578" y="2168106"/>
            <a:ext cx="4092946" cy="40772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Transfer: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Basic send/receive between wallets.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Smart Contract: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Programmed actions (DeFi, NFT trades, etc.).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Token Transfer: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Moving tokens built on top of blockchains (e.g., ERC20 on ETH).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Mining Rewards: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Newly minted crypto to miners/validators.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Contract Creation: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Deploying new code/smart contracts to the blockchain</a:t>
            </a:r>
            <a:endParaRPr lang="en-US" sz="1400">
              <a:solidFill>
                <a:srgbClr val="00B050"/>
              </a:solidFill>
            </a:endParaRPr>
          </a:p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8875" y="789202"/>
            <a:ext cx="3733512" cy="1861465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ea typeface="Batang"/>
              </a:rPr>
              <a:t>Types of Crypto Transactions</a:t>
            </a:r>
            <a:endParaRPr lang="en-US" b="1">
              <a:solidFill>
                <a:srgbClr val="00B0F0"/>
              </a:solidFill>
              <a:ea typeface="Batang"/>
            </a:endParaRPr>
          </a:p>
          <a:p>
            <a:endParaRPr lang="en-US"/>
          </a:p>
        </p:txBody>
      </p:sp>
      <p:pic>
        <p:nvPicPr>
          <p:cNvPr id="6" name="Picture 5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 l="-612" r="7592" b="-368"/>
          <a:stretch>
            <a:fillRect/>
          </a:stretch>
        </p:blipFill>
        <p:spPr>
          <a:xfrm>
            <a:off x="5072466" y="1182624"/>
            <a:ext cx="6707673" cy="4824093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1" y="2142067"/>
            <a:ext cx="4227218" cy="36491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>
                <a:solidFill>
                  <a:srgbClr val="92D050"/>
                </a:solidFill>
              </a:rPr>
              <a:t>Number of transactions can be measured by year, month, day.</a:t>
            </a:r>
            <a:endParaRPr lang="en-US">
              <a:solidFill>
                <a:srgbClr val="92D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b="1">
                <a:solidFill>
                  <a:srgbClr val="92D050"/>
                </a:solidFill>
              </a:rPr>
              <a:t>BTC:</a:t>
            </a:r>
            <a:r>
              <a:rPr lang="en-US">
                <a:solidFill>
                  <a:srgbClr val="92D050"/>
                </a:solidFill>
              </a:rPr>
              <a:t> High-value, slower, higher fees.</a:t>
            </a:r>
            <a:endParaRPr lang="en-US">
              <a:solidFill>
                <a:srgbClr val="92D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b="1">
                <a:solidFill>
                  <a:srgbClr val="92D050"/>
                </a:solidFill>
              </a:rPr>
              <a:t>ETH:</a:t>
            </a:r>
            <a:r>
              <a:rPr lang="en-US">
                <a:solidFill>
                  <a:srgbClr val="92D050"/>
                </a:solidFill>
              </a:rPr>
              <a:t> More frequent transactions due to DeFi &amp; NFTs.</a:t>
            </a:r>
            <a:endParaRPr lang="en-US">
              <a:solidFill>
                <a:srgbClr val="92D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>
                <a:solidFill>
                  <a:srgbClr val="92D050"/>
                </a:solidFill>
              </a:rPr>
              <a:t>Growth shows increasing adoption and expands variety of use-cases.</a:t>
            </a:r>
            <a:endParaRPr lang="en-US">
              <a:solidFill>
                <a:srgbClr val="92D050"/>
              </a:solidFill>
            </a:endParaRPr>
          </a:p>
          <a:p>
            <a:pPr algn="l">
              <a:buFont typeface="Arial" panose="020B0604020202020204"/>
              <a:buChar char="•"/>
            </a:pPr>
            <a:endParaRPr lang="en-US">
              <a:solidFill>
                <a:srgbClr val="92D05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53138" y="284615"/>
            <a:ext cx="3721478" cy="17873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dirty="0">
                <a:solidFill>
                  <a:srgbClr val="00B0F0"/>
                </a:solidFill>
              </a:rPr>
              <a:t>BTC &amp; ETH Transaction Analysis</a:t>
            </a:r>
            <a:endParaRPr lang="en-US" sz="3600" b="1" dirty="0">
              <a:solidFill>
                <a:srgbClr val="00B0F0"/>
              </a:solidFill>
            </a:endParaRPr>
          </a:p>
          <a:p>
            <a:pPr algn="l"/>
            <a:endParaRPr lang="en-US" sz="3600" dirty="0"/>
          </a:p>
        </p:txBody>
      </p:sp>
      <p:pic>
        <p:nvPicPr>
          <p:cNvPr id="6" name="Picture 5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8" y="-3863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screenshot of a computer&#10;&#10;AI-generated content may be incorrect.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 l="96" t="11" r="29769" b="-161"/>
          <a:stretch>
            <a:fillRect/>
          </a:stretch>
        </p:blipFill>
        <p:spPr>
          <a:xfrm>
            <a:off x="4820847" y="952202"/>
            <a:ext cx="6787471" cy="4961385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83252" y="2153728"/>
            <a:ext cx="3474720" cy="35021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Paid to miners/validators for processing.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Fluctuate with demand and network congestion.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BTC: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Calculated per byte of transaction.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ETH: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Depends on “gas” used for operations.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Can be reduced by timing, batching, and using fee optimization tools.</a:t>
            </a:r>
            <a:endParaRPr lang="en-US" sz="1400">
              <a:solidFill>
                <a:srgbClr val="00B050"/>
              </a:solidFill>
            </a:endParaRPr>
          </a:p>
          <a:p>
            <a:endParaRPr lang="en-US" sz="140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99585" y="420624"/>
            <a:ext cx="3474720" cy="1847088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ea typeface="Batang"/>
              </a:rPr>
              <a:t>Transaction Fees</a:t>
            </a:r>
            <a:endParaRPr lang="en-US" b="1">
              <a:solidFill>
                <a:srgbClr val="00B0F0"/>
              </a:solidFill>
              <a:ea typeface="Batang"/>
            </a:endParaRPr>
          </a:p>
          <a:p>
            <a:endParaRPr lang="en-US"/>
          </a:p>
        </p:txBody>
      </p:sp>
      <p:pic>
        <p:nvPicPr>
          <p:cNvPr id="6" name="Picture 5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 l="18799" r="18799"/>
          <a:stretch>
            <a:fillRect/>
          </a:stretch>
        </p:blipFill>
        <p:spPr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12648" y="1923691"/>
            <a:ext cx="3474720" cy="43216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Exchange &amp; Wallet Hacks: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Large targets for theft.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Endpoint Vulnerability: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Attacks on wallets/interfaces.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Phishing/Social Engineering: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Stealing private keys.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“51%” Attacks: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Majority, double-spending, halting.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Smart Contract Bugs: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Software flaws (like the DAO hack).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Bridge Attacks, Sybil/Network Routing: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Multiple attack vectors</a:t>
            </a:r>
            <a:endParaRPr lang="en-US" sz="1400">
              <a:solidFill>
                <a:srgbClr val="00B050"/>
              </a:solidFill>
            </a:endParaRPr>
          </a:p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9480" y="415391"/>
            <a:ext cx="4021058" cy="1933351"/>
          </a:xfrm>
        </p:spPr>
        <p:txBody>
          <a:bodyPr/>
          <a:lstStyle/>
          <a:p>
            <a:r>
              <a:rPr lang="en-US">
                <a:ea typeface="Batang"/>
              </a:rPr>
              <a:t> </a:t>
            </a:r>
            <a:r>
              <a:rPr lang="en-US" sz="2800" b="1">
                <a:solidFill>
                  <a:srgbClr val="00B0F0"/>
                </a:solidFill>
                <a:ea typeface="Batang"/>
              </a:rPr>
              <a:t>Cryptocurrency Vulnerabilities</a:t>
            </a:r>
            <a:endParaRPr lang="en-US" sz="2800" b="1">
              <a:solidFill>
                <a:srgbClr val="00B0F0"/>
              </a:solidFill>
              <a:ea typeface="Batang"/>
            </a:endParaRPr>
          </a:p>
          <a:p>
            <a:endParaRPr lang="en-US" sz="2800"/>
          </a:p>
        </p:txBody>
      </p:sp>
      <p:pic>
        <p:nvPicPr>
          <p:cNvPr id="6" name="Picture 5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4"/>
          </p:nvPr>
        </p:nvSpPr>
        <p:spPr>
          <a:xfrm flipV="1">
            <a:off x="11034171" y="374904"/>
            <a:ext cx="896387" cy="48989"/>
          </a:xfrm>
        </p:spPr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519141" y="2175899"/>
            <a:ext cx="8798829" cy="40916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 b="1" dirty="0">
                <a:solidFill>
                  <a:srgbClr val="00B050"/>
                </a:solidFill>
                <a:ea typeface="+mn-lt"/>
                <a:cs typeface="+mn-lt"/>
              </a:rPr>
              <a:t>Asset Discovery:</a:t>
            </a:r>
            <a:r>
              <a:rPr lang="en-US" dirty="0">
                <a:solidFill>
                  <a:srgbClr val="00B050"/>
                </a:solidFill>
                <a:ea typeface="+mn-lt"/>
                <a:cs typeface="+mn-lt"/>
              </a:rPr>
              <a:t> Knowing what needs protection.</a:t>
            </a:r>
            <a:endParaRPr lang="en-US" dirty="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b="1" dirty="0">
                <a:solidFill>
                  <a:srgbClr val="00B050"/>
                </a:solidFill>
                <a:ea typeface="+mn-lt"/>
                <a:cs typeface="+mn-lt"/>
              </a:rPr>
              <a:t>Vulnerability Assessment:</a:t>
            </a:r>
            <a:r>
              <a:rPr lang="en-US" dirty="0">
                <a:solidFill>
                  <a:srgbClr val="00B050"/>
                </a:solidFill>
                <a:ea typeface="+mn-lt"/>
                <a:cs typeface="+mn-lt"/>
              </a:rPr>
              <a:t> Scanning for security flaws.</a:t>
            </a:r>
            <a:endParaRPr lang="en-US" dirty="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b="1" dirty="0">
                <a:solidFill>
                  <a:srgbClr val="00B050"/>
                </a:solidFill>
                <a:ea typeface="+mn-lt"/>
                <a:cs typeface="+mn-lt"/>
              </a:rPr>
              <a:t>Risk Prioritization:</a:t>
            </a:r>
            <a:r>
              <a:rPr lang="en-US" dirty="0">
                <a:solidFill>
                  <a:srgbClr val="00B050"/>
                </a:solidFill>
                <a:ea typeface="+mn-lt"/>
                <a:cs typeface="+mn-lt"/>
              </a:rPr>
              <a:t> Focused, high-severity fixes first.</a:t>
            </a:r>
            <a:endParaRPr lang="en-US" dirty="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b="1" dirty="0">
                <a:solidFill>
                  <a:srgbClr val="00B050"/>
                </a:solidFill>
                <a:ea typeface="+mn-lt"/>
                <a:cs typeface="+mn-lt"/>
              </a:rPr>
              <a:t>Remediation:</a:t>
            </a:r>
            <a:r>
              <a:rPr lang="en-US" dirty="0">
                <a:solidFill>
                  <a:srgbClr val="00B050"/>
                </a:solidFill>
                <a:ea typeface="+mn-lt"/>
                <a:cs typeface="+mn-lt"/>
              </a:rPr>
              <a:t> Patch/update/correct flaws.</a:t>
            </a:r>
            <a:endParaRPr lang="en-US" dirty="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b="1" dirty="0">
                <a:solidFill>
                  <a:srgbClr val="00B050"/>
                </a:solidFill>
                <a:ea typeface="+mn-lt"/>
                <a:cs typeface="+mn-lt"/>
              </a:rPr>
              <a:t>Best Practices:</a:t>
            </a:r>
            <a:r>
              <a:rPr lang="en-US" dirty="0">
                <a:solidFill>
                  <a:srgbClr val="00B050"/>
                </a:solidFill>
                <a:ea typeface="+mn-lt"/>
                <a:cs typeface="+mn-lt"/>
              </a:rPr>
              <a:t> Penetration Testing, Secure Coding, 2FA, Secure APIs.</a:t>
            </a:r>
            <a:endParaRPr lang="en-US" dirty="0">
              <a:solidFill>
                <a:srgbClr val="00B050"/>
              </a:solidFill>
            </a:endParaRP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2647" y="789202"/>
            <a:ext cx="10578155" cy="1386697"/>
          </a:xfrm>
        </p:spPr>
        <p:txBody>
          <a:bodyPr/>
          <a:lstStyle/>
          <a:p>
            <a:r>
              <a:rPr lang="en-US" sz="2800" b="1" dirty="0">
                <a:solidFill>
                  <a:srgbClr val="00B0F0"/>
                </a:solidFill>
                <a:ea typeface="Batang"/>
              </a:rPr>
              <a:t>Vulnerability Management in Crypto</a:t>
            </a:r>
            <a:endParaRPr lang="en-US" sz="2800" b="1" dirty="0">
              <a:solidFill>
                <a:srgbClr val="00B0F0"/>
              </a:solidFill>
              <a:ea typeface="Batang"/>
            </a:endParaRPr>
          </a:p>
          <a:p>
            <a:endParaRPr lang="en-US" dirty="0"/>
          </a:p>
        </p:txBody>
      </p:sp>
      <p:pic>
        <p:nvPicPr>
          <p:cNvPr id="6" name="Picture 5" descr="A logo of a university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mask with text overlay&#10;&#10;AI-generated content may be incorrect.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 l="1033" t="122" r="5165" b="-73"/>
          <a:stretch>
            <a:fillRect/>
          </a:stretch>
        </p:blipFill>
        <p:spPr>
          <a:xfrm>
            <a:off x="4346157" y="1468957"/>
            <a:ext cx="7429282" cy="4467413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12648" y="2139351"/>
            <a:ext cx="3474720" cy="4106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OpenVAS: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For vulnerability scans.</a:t>
            </a:r>
            <a:endParaRPr lang="en-US" sz="1400">
              <a:solidFill>
                <a:srgbClr val="00B050"/>
              </a:solidFill>
            </a:endParaRPr>
          </a:p>
          <a:p>
            <a:pPr algn="l"/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Metasploit: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Testing/live exploitation in a secure environment.</a:t>
            </a:r>
            <a:endParaRPr lang="en-US" sz="1400">
              <a:solidFill>
                <a:srgbClr val="00B050"/>
              </a:solidFill>
              <a:ea typeface="+mn-lt"/>
              <a:cs typeface="+mn-lt"/>
            </a:endParaRPr>
          </a:p>
          <a:p>
            <a:pPr algn="l"/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Nmap: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Finds live crypto servers, nodes, APIs.</a:t>
            </a:r>
            <a:endParaRPr lang="en-US" sz="1400">
              <a:solidFill>
                <a:srgbClr val="00B050"/>
              </a:solidFill>
              <a:ea typeface="+mn-lt"/>
              <a:cs typeface="+mn-lt"/>
            </a:endParaRPr>
          </a:p>
          <a:p>
            <a:pPr algn="l"/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Burp Suite, Nikto, SQLMap: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For web/API penetration testing.</a:t>
            </a:r>
            <a:endParaRPr lang="en-US"/>
          </a:p>
          <a:p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Also consider specialized tools    (Mythril, Slither) for smart contracts.</a:t>
            </a:r>
            <a:endParaRPr lang="en-US" sz="1400">
              <a:solidFill>
                <a:srgbClr val="00B050"/>
              </a:solidFill>
            </a:endParaRPr>
          </a:p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solidFill>
                  <a:srgbClr val="00B0F0"/>
                </a:solidFill>
                <a:ea typeface="Batang"/>
              </a:rPr>
              <a:t>Crypto Security Tools in Kali Linux</a:t>
            </a:r>
            <a:endParaRPr lang="en-US" sz="2800" b="1">
              <a:solidFill>
                <a:srgbClr val="00B0F0"/>
              </a:solidFill>
              <a:ea typeface="Batang"/>
            </a:endParaRPr>
          </a:p>
          <a:p>
            <a:endParaRPr lang="en-US"/>
          </a:p>
        </p:txBody>
      </p:sp>
      <p:pic>
        <p:nvPicPr>
          <p:cNvPr id="6" name="Picture 5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erson wearing a hoodie and holding coins&#10;&#10;AI-generated content may be incorrect.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 l="524" t="-114" r="838"/>
          <a:stretch>
            <a:fillRect/>
          </a:stretch>
        </p:blipFill>
        <p:spPr>
          <a:xfrm>
            <a:off x="4529948" y="1712261"/>
            <a:ext cx="7232491" cy="4129830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  2021: Hackers exploit wallet API &amp; steal millions.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Attack vector: Phishing &amp; weak endpoint security.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 b="1">
                <a:solidFill>
                  <a:srgbClr val="00B050"/>
                </a:solidFill>
                <a:ea typeface="+mn-lt"/>
                <a:cs typeface="+mn-lt"/>
              </a:rPr>
              <a:t>Response:</a:t>
            </a: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 Exchange halts transactions, updates security, reimburses users, launches awareness campaign</a:t>
            </a:r>
            <a:endParaRPr lang="en-US" sz="1400">
              <a:solidFill>
                <a:srgbClr val="00B050"/>
              </a:solidFill>
            </a:endParaRPr>
          </a:p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2648" y="1062372"/>
            <a:ext cx="3474720" cy="1847088"/>
          </a:xfrm>
        </p:spPr>
        <p:txBody>
          <a:bodyPr/>
          <a:lstStyle/>
          <a:p>
            <a:r>
              <a:rPr lang="en-US">
                <a:ea typeface="Batang"/>
              </a:rPr>
              <a:t> </a:t>
            </a:r>
            <a:r>
              <a:rPr lang="en-US" sz="2800" b="1">
                <a:solidFill>
                  <a:srgbClr val="00B0F0"/>
                </a:solidFill>
                <a:ea typeface="Batang"/>
              </a:rPr>
              <a:t>Case Study: Crypto Attack &amp; Response</a:t>
            </a:r>
            <a:endParaRPr lang="en-US" sz="2800" b="1">
              <a:solidFill>
                <a:srgbClr val="00B0F0"/>
              </a:solidFill>
              <a:ea typeface="Batang"/>
            </a:endParaRPr>
          </a:p>
          <a:p>
            <a:endParaRPr lang="en-US"/>
          </a:p>
        </p:txBody>
      </p:sp>
      <p:pic>
        <p:nvPicPr>
          <p:cNvPr id="6" name="Picture 5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close-up of a graph&#10;&#10;AI-generated content may be incorrect.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 l="-417" t="-51" b="-63"/>
          <a:stretch>
            <a:fillRect/>
          </a:stretch>
        </p:blipFill>
        <p:spPr>
          <a:xfrm>
            <a:off x="4496330" y="1667437"/>
            <a:ext cx="7250383" cy="4118624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12648" y="2268747"/>
            <a:ext cx="3474720" cy="35021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l">
              <a:buFont typeface="Arial" panose="020B0604020202020204"/>
              <a:buChar char="•"/>
            </a:pP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Transaction analysis is crucial for security, transparency, and regulatory compliance.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Ongoing threat monitoring and best security practices are essential.</a:t>
            </a:r>
            <a:endParaRPr lang="en-US" sz="1400">
              <a:solidFill>
                <a:srgbClr val="00B050"/>
              </a:solidFill>
            </a:endParaRPr>
          </a:p>
          <a:p>
            <a:pPr marL="285750" indent="-285750" algn="l">
              <a:buFont typeface="Arial" panose="020B0604020202020204"/>
              <a:buChar char="•"/>
            </a:pPr>
            <a:r>
              <a:rPr lang="en-US" sz="1400">
                <a:solidFill>
                  <a:srgbClr val="00B050"/>
                </a:solidFill>
                <a:ea typeface="+mn-lt"/>
                <a:cs typeface="+mn-lt"/>
              </a:rPr>
              <a:t>Future focus: Privacy improvements, better user protection, and evolving with regulations</a:t>
            </a:r>
            <a:endParaRPr lang="en-US" sz="1400">
              <a:solidFill>
                <a:srgbClr val="00B050"/>
              </a:solidFill>
            </a:endParaRPr>
          </a:p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solidFill>
                  <a:srgbClr val="00B0F0"/>
                </a:solidFill>
                <a:ea typeface="+mj-lt"/>
                <a:cs typeface="+mj-lt"/>
              </a:rPr>
              <a:t>Conclusion &amp; Future Perspective</a:t>
            </a:r>
            <a:endParaRPr lang="en-US" sz="2800">
              <a:solidFill>
                <a:srgbClr val="00B0F0"/>
              </a:solidFill>
            </a:endParaRPr>
          </a:p>
          <a:p>
            <a:endParaRPr lang="en-US"/>
          </a:p>
        </p:txBody>
      </p:sp>
      <p:pic>
        <p:nvPicPr>
          <p:cNvPr id="6" name="Picture 5" descr="A logo of a university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sz="quarter" idx="14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1" b="6581"/>
          <a:stretch>
            <a:fillRect/>
          </a:stretch>
        </p:blipFill>
        <p:spPr>
          <a:xfrm>
            <a:off x="333830" y="420624"/>
            <a:ext cx="10820400" cy="6016752"/>
          </a:xfrm>
          <a:noFill/>
        </p:spPr>
      </p:pic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 flipV="1">
            <a:off x="684494" y="239486"/>
            <a:ext cx="3474720" cy="181138"/>
          </a:xfrm>
          <a:noFill/>
        </p:spPr>
        <p:txBody>
          <a:bodyPr>
            <a:normAutofit fontScale="90000"/>
          </a:bodyPr>
          <a:lstStyle/>
          <a:p>
            <a:endParaRPr lang="en-US" sz="4000" b="1">
              <a:solidFill>
                <a:srgbClr val="00B0F0"/>
              </a:solidFill>
              <a:ea typeface="Batang"/>
            </a:endParaRPr>
          </a:p>
        </p:txBody>
      </p:sp>
      <p:pic>
        <p:nvPicPr>
          <p:cNvPr id="6" name="Picture 5" descr="A logo of a university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6" y="14108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skiing down a mountain"/>
          <p:cNvPicPr>
            <a:picLocks noGrp="1" noChangeAspect="1"/>
          </p:cNvPicPr>
          <p:nvPr>
            <p:ph type="pic" sz="quarter"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9" b="21779"/>
          <a:stretch>
            <a:fillRect/>
          </a:stretch>
        </p:blipFill>
        <p:spPr>
          <a:xfrm>
            <a:off x="5957" y="-4928"/>
            <a:ext cx="11691255" cy="4461693"/>
          </a:xfr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pc="100"/>
              <a:t>Use this portion of your presentation to answer audience questions.</a:t>
            </a:r>
            <a:endParaRPr lang="en-US" spc="1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 &amp; A</a:t>
            </a:r>
            <a:endParaRPr lang="en-US"/>
          </a:p>
        </p:txBody>
      </p:sp>
      <p:pic>
        <p:nvPicPr>
          <p:cNvPr id="5" name="Picture 4" descr="A logo of a university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-2000"/>
                    </a14:imgEffect>
                    <a14:imgEffect>
                      <a14:saturation sat="1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34172" y="-449"/>
            <a:ext cx="1151089" cy="10648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 descr="A logo with a red and blue triangle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5199" y="6829"/>
            <a:ext cx="1179303" cy="105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8778BE-8E01-4C63-9D69-0B975B6CA9FF}">
  <ds:schemaRefs/>
</ds:datastoreItem>
</file>

<file path=customXml/itemProps2.xml><?xml version="1.0" encoding="utf-8"?>
<ds:datastoreItem xmlns:ds="http://schemas.openxmlformats.org/officeDocument/2006/customXml" ds:itemID="{174310FC-FCBF-4C13-8341-E1A358C4F177}">
  <ds:schemaRefs/>
</ds:datastoreItem>
</file>

<file path=customXml/itemProps3.xml><?xml version="1.0" encoding="utf-8"?>
<ds:datastoreItem xmlns:ds="http://schemas.openxmlformats.org/officeDocument/2006/customXml" ds:itemID="{CF361F2A-2EA0-4BA8-830A-64FFB91B795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1</Template>
  <TotalTime>0</TotalTime>
  <Words>5241</Words>
  <Application>WPS Presentation</Application>
  <PresentationFormat>Widescreen</PresentationFormat>
  <Paragraphs>163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SimSun</vt:lpstr>
      <vt:lpstr>Wingdings</vt:lpstr>
      <vt:lpstr>Wingdings 3</vt:lpstr>
      <vt:lpstr>Arial</vt:lpstr>
      <vt:lpstr>Batang</vt:lpstr>
      <vt:lpstr>Constantia</vt:lpstr>
      <vt:lpstr>Avenir Next LT Pro Light</vt:lpstr>
      <vt:lpstr>Bookman Old Style</vt:lpstr>
      <vt:lpstr>Calibri Light</vt:lpstr>
      <vt:lpstr>Century Gothic</vt:lpstr>
      <vt:lpstr>Segoe Print</vt:lpstr>
      <vt:lpstr>Microsoft YaHei</vt:lpstr>
      <vt:lpstr>Arial Unicode MS</vt:lpstr>
      <vt:lpstr>Aptos</vt:lpstr>
      <vt:lpstr>Segoe UI</vt:lpstr>
      <vt:lpstr>Ion</vt:lpstr>
      <vt:lpstr>Cryptocurrency Transaction Analysis</vt:lpstr>
      <vt:lpstr>Abstract</vt:lpstr>
      <vt:lpstr>What is Cryptocurrency</vt:lpstr>
      <vt:lpstr> </vt:lpstr>
      <vt:lpstr>How Does Cryptocurrency Work?</vt:lpstr>
      <vt:lpstr>How to Purchase Cryptocurrency</vt:lpstr>
      <vt:lpstr>Key Cryptocurrency Transaction Terms</vt:lpstr>
      <vt:lpstr> How Transactions Work ?</vt:lpstr>
      <vt:lpstr>Types of Crypto Transactions</vt:lpstr>
      <vt:lpstr>BTC &amp; ETH Transaction Analysis</vt:lpstr>
      <vt:lpstr>Transaction Fees</vt:lpstr>
      <vt:lpstr> Cryptocurrency Vulnerabilities</vt:lpstr>
      <vt:lpstr>Vulnerability Management in Crypto</vt:lpstr>
      <vt:lpstr>Crypto Security Tools in Kali Linux</vt:lpstr>
      <vt:lpstr> Case Study: Crypto Attack &amp; Response</vt:lpstr>
      <vt:lpstr>Conclusion &amp; Future Perspective</vt:lpstr>
      <vt:lpstr>PowerPoint 演示文稿</vt:lpstr>
      <vt:lpstr>Q &amp; 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 Patel</dc:creator>
  <cp:lastModifiedBy>Ashish Giri</cp:lastModifiedBy>
  <cp:revision>3</cp:revision>
  <dcterms:created xsi:type="dcterms:W3CDTF">2025-08-20T01:29:00Z</dcterms:created>
  <dcterms:modified xsi:type="dcterms:W3CDTF">2025-09-07T05:04:33Z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4A47AAFED2FA4C38929B5D4B9AB8E520_12</vt:lpwstr>
  </property>
  <property fmtid="{D5CDD505-2E9C-101B-9397-08002B2CF9AE}" pid="5" name="KSOProductBuildVer">
    <vt:lpwstr>1033-12.2.0.21931</vt:lpwstr>
  </property>
</Properties>
</file>